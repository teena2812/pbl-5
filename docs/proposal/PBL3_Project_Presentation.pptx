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Times New Roman"/>
              </a:defRPr>
            </a:pPr>
            <a:r>
              <a:t>Personalized Federated Learning for Explainable and Privacy-Preserving Disease Risk Prediction in Heterogeneous Healthcare Systems</a:t>
            </a:r>
          </a:p>
          <a:p>
            <a:br/>
            <a:r>
              <a:t>Course Code: PBL-3 (CSP-391)  |  Zeroth Evaluation  |  Sharda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0"/>
            <a:ext cx="11277295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 i="0">
                <a:solidFill>
                  <a:srgbClr val="1E293B"/>
                </a:solidFill>
                <a:latin typeface="Times New Roman"/>
              </a:defRPr>
            </a:pPr>
            <a:r>
              <a:rPr dirty="0"/>
              <a:t>Project Team Members: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475569"/>
                </a:solidFill>
                <a:latin typeface="Times New Roman"/>
              </a:defRPr>
            </a:pPr>
            <a:r>
              <a:rPr dirty="0"/>
              <a:t>1. Teena Kalia (System ID: 2024318098) - Data &amp; FL Engineer (Role A &amp; B)</a:t>
            </a:r>
          </a:p>
          <a:p>
            <a:pPr>
              <a:spcAft>
                <a:spcPts val="800"/>
              </a:spcAft>
              <a:defRPr sz="1300" b="0" i="0">
                <a:solidFill>
                  <a:srgbClr val="475569"/>
                </a:solidFill>
                <a:latin typeface="Times New Roman"/>
              </a:defRPr>
            </a:pPr>
            <a:r>
              <a:rPr dirty="0"/>
              <a:t>2. Muntaha Malik (System ID: 2024344225) - ML &amp; Full-Stack/XAI Developer (Role C &amp; D)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The Core Problem: Healthcare AI Barriers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Siloed Institutional Data: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Strict privacy laws (HIPAA/GDPR) prevent centralizing patient records.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Statistical Population Skew: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Standard global FL (FedAvg) fails to generalize to non-IID clinical distributions.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Clinical Black-Box Trust Barrier: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Clinicians reject unexplained model predictions carrying malpractice liabilities.</a:t>
            </a:r>
          </a:p>
        </p:txBody>
      </p:sp>
      <p:pic>
        <p:nvPicPr>
          <p:cNvPr id="4" name="Picture 3" descr="problem_chai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5303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120640"/>
            <a:ext cx="56692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 i="1">
                <a:solidFill>
                  <a:srgbClr val="1E293B"/>
                </a:solidFill>
                <a:latin typeface="Times New Roman"/>
              </a:defRPr>
            </a:pPr>
            <a:r>
              <a:t>Formal Goal: min_{θ_1...θ_K} ∑ p_k L_k(θ_k) collaboratively and adaptively without sharing raw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Our Solution: The 3-Layer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Layer 1: Collaborative Federated Learning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Coordinates parameter updates using Flower server; raw records never leave clients. Solves Data Silos.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Layer 2: Statistical Personalization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Applies FedProx optimizer to regularize local updates, followed by final-layer fine-tuning. Solves non-IID Skew.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Layer 3: Post-Hoc Explainability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Instantiates SHAP engine locally inside client nodes to map patient feature attributions. Solves Black-Box Barrier.</a:t>
            </a:r>
          </a:p>
        </p:txBody>
      </p:sp>
      <p:pic>
        <p:nvPicPr>
          <p:cNvPr id="4" name="Picture 3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End-to-End Pipeline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 i="0">
                <a:solidFill>
                  <a:srgbClr val="334155"/>
                </a:solidFill>
                <a:latin typeface="Times New Roman"/>
              </a:defRPr>
            </a:pPr>
            <a:r>
              <a:t>• Data Partitioning: UCI dataset split into non-IID clinical client partitions (representing hospitals).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334155"/>
                </a:solidFill>
                <a:latin typeface="Times New Roman"/>
              </a:defRPr>
            </a:pPr>
            <a:r>
              <a:t>• Collaborative Learning: Local PyTorch loops coordinate parameter training; weights aggregated globally.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334155"/>
                </a:solidFill>
                <a:latin typeface="Times New Roman"/>
              </a:defRPr>
            </a:pPr>
            <a:r>
              <a:t>• Local Adaptation: FedProx proximal term regulates updates, specialized post-FL via final-layer fine-tuning.</a:t>
            </a:r>
          </a:p>
          <a:p>
            <a:pPr>
              <a:spcAft>
                <a:spcPts val="800"/>
              </a:spcAft>
              <a:defRPr sz="1400" b="0" i="0">
                <a:solidFill>
                  <a:srgbClr val="334155"/>
                </a:solidFill>
                <a:latin typeface="Times New Roman"/>
              </a:defRPr>
            </a:pPr>
            <a:r>
              <a:t>• Point-of-Care Trust: Clinician dashboard queries FastAPI to render risk probabilities and SHAP Plotly charts.</a:t>
            </a:r>
          </a:p>
        </p:txBody>
      </p:sp>
      <p:pic>
        <p:nvPicPr>
          <p:cNvPr id="4" name="Picture 3" descr="training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40" y="2427275"/>
            <a:ext cx="7016855" cy="4430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Research Foundation &amp; Identified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 i="0">
                <a:solidFill>
                  <a:srgbClr val="0F172A"/>
                </a:solidFill>
                <a:latin typeface="Times New Roman"/>
              </a:defRPr>
            </a:pPr>
            <a:r>
              <a:t>Literature Survey Foundation: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Evaluated 49 entries (48 unique papers) across 4 thematic areas:</a:t>
            </a:r>
            <a:br/>
            <a:r>
              <a:t>  1. FL Fundamentals  2. FL in Healthcare  3. Personalized FL  4. Clinical XAI</a:t>
            </a:r>
          </a:p>
          <a:p>
            <a:pPr>
              <a:spcAft>
                <a:spcPts val="800"/>
              </a:spcAft>
              <a:defRPr sz="1600" b="1" i="0">
                <a:solidFill>
                  <a:srgbClr val="0F172A"/>
                </a:solidFill>
                <a:latin typeface="Times New Roman"/>
              </a:defRPr>
            </a:pPr>
            <a:r>
              <a:t>Identified Academic Research Gap: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No existing clinical framework combines collaborative model training, local personalization (FedProx), and local-only, edge-decoupled SHAP attributions for tabular risk prediction tasks.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Existing clinical XAI literature is biased toward centralized imaging and lacks decentralized explanations generated at the client boundary without exposing patient cohorts.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846320"/>
            <a:ext cx="11277295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 i="1">
                <a:solidFill>
                  <a:srgbClr val="FFFFFF"/>
                </a:solidFill>
                <a:latin typeface="Times New Roman"/>
              </a:defRPr>
            </a:pPr>
            <a:r>
              <a:t>Research Question: Can a personalized federated approach match centralized diagnostic performance under privacy constraints, while delivering consistent, clinician-grounded trust?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Experimental Plan &amp; Success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Four-Track Comparative Evaluation: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Tracks: Local ML (Siloed baseline), Centralized ML (Upper bound), FedAvg (Standard FL), Personalized FL (FedProx + tuning).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Evaluation Metrics: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Utility: Accuracy, Precision, Recall, F1-Score, and AUC-ROC.</a:t>
            </a:r>
            <a:br/>
            <a:r>
              <a:t>• Efficiency: Communication rounds, total bytes sent, wall-clock time.</a:t>
            </a:r>
            <a:br/>
            <a:r>
              <a:t>• XAI: SHAP explanation ranking stability across client nodes.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Project Success Definition: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Personalized FL outperforms plain FedAvg on hospital-specific test accuracy, while local SHAP values consistently highlight clinical features.</a:t>
            </a:r>
          </a:p>
        </p:txBody>
      </p:sp>
      <p:pic>
        <p:nvPicPr>
          <p:cNvPr id="4" name="Picture 3" descr="experimental_pla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Roadmap, Technology Stack,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Technology Stack: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ML &amp; FL: PyTorch, Flower FL, SHAP</a:t>
            </a:r>
            <a:br/>
            <a:r>
              <a:t>• Product: FastAPI (Backend), React (UI), Supabase (Log Database)</a:t>
            </a:r>
          </a:p>
          <a:p>
            <a:pPr>
              <a:spcAft>
                <a:spcPts val="800"/>
              </a:spcAft>
              <a:defRPr sz="1500" b="1" i="0">
                <a:solidFill>
                  <a:srgbClr val="0F172A"/>
                </a:solidFill>
                <a:latin typeface="Times New Roman"/>
              </a:defRPr>
            </a:pPr>
            <a:r>
              <a:t>Core Project Value: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Unifies collaborative learning, statistical customization, and point-of-care interpretability in a zero-budget, open-source stack.</a:t>
            </a:r>
          </a:p>
          <a:p>
            <a:pPr>
              <a:spcAft>
                <a:spcPts val="800"/>
              </a:spcAft>
              <a:defRPr sz="1300" b="0" i="0">
                <a:solidFill>
                  <a:srgbClr val="334155"/>
                </a:solidFill>
                <a:latin typeface="Times New Roman"/>
              </a:defRPr>
            </a:pPr>
            <a:r>
              <a:t>• Demonstrates equitable diagnostic care across medical networks, protecting patient privacy while enabling clinician validation.</a:t>
            </a:r>
          </a:p>
        </p:txBody>
      </p:sp>
      <p:pic>
        <p:nvPicPr>
          <p:cNvPr id="4" name="Picture 3" descr="project_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919354771636</cp:lastModifiedBy>
  <cp:revision>3</cp:revision>
  <dcterms:created xsi:type="dcterms:W3CDTF">2013-01-27T09:14:16Z</dcterms:created>
  <dcterms:modified xsi:type="dcterms:W3CDTF">2026-08-21T08:16:32Z</dcterms:modified>
  <cp:category/>
</cp:coreProperties>
</file>